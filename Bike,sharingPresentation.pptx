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57" r:id="rId4"/>
    <p:sldId id="258" r:id="rId5"/>
    <p:sldId id="259" r:id="rId6"/>
    <p:sldId id="260" r:id="rId7"/>
    <p:sldId id="265" r:id="rId8"/>
    <p:sldId id="266" r:id="rId9"/>
    <p:sldId id="267" r:id="rId10"/>
    <p:sldId id="261" r:id="rId11"/>
    <p:sldId id="268" r:id="rId12"/>
    <p:sldId id="262" r:id="rId13"/>
    <p:sldId id="269" r:id="rId14"/>
    <p:sldId id="270" r:id="rId15"/>
    <p:sldId id="263" r:id="rId16"/>
    <p:sldId id="264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ke Sharing Project" id="{76FF62AD-3A5E-9CC7-9A60-F2ED3D1707BF}">
          <p14:sldIdLst>
            <p14:sldId id="256"/>
            <p14:sldId id="273"/>
            <p14:sldId id="257"/>
            <p14:sldId id="258"/>
            <p14:sldId id="259"/>
            <p14:sldId id="260"/>
            <p14:sldId id="265"/>
            <p14:sldId id="266"/>
            <p14:sldId id="267"/>
            <p14:sldId id="261"/>
            <p14:sldId id="268"/>
            <p14:sldId id="262"/>
            <p14:sldId id="269"/>
            <p14:sldId id="270"/>
            <p14:sldId id="263"/>
            <p14:sldId id="264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 patil" userId="d2f17a7563e9db7f" providerId="LiveId" clId="{130E4541-BB1A-4FE9-A9C1-7ECAFA1640CC}"/>
    <pc:docChg chg="custSel modSld">
      <pc:chgData name="risha patil" userId="d2f17a7563e9db7f" providerId="LiveId" clId="{130E4541-BB1A-4FE9-A9C1-7ECAFA1640CC}" dt="2026-10-08T09:22:17.645" v="21" actId="20577"/>
      <pc:docMkLst>
        <pc:docMk/>
      </pc:docMkLst>
      <pc:sldChg chg="modSp mod">
        <pc:chgData name="risha patil" userId="d2f17a7563e9db7f" providerId="LiveId" clId="{130E4541-BB1A-4FE9-A9C1-7ECAFA1640CC}" dt="2026-10-08T09:22:17.645" v="21" actId="20577"/>
        <pc:sldMkLst>
          <pc:docMk/>
          <pc:sldMk cId="0" sldId="256"/>
        </pc:sldMkLst>
        <pc:spChg chg="mod">
          <ac:chgData name="risha patil" userId="d2f17a7563e9db7f" providerId="LiveId" clId="{130E4541-BB1A-4FE9-A9C1-7ECAFA1640CC}" dt="2026-10-08T09:22:17.645" v="21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32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NextHikes IT Solutions  |  Bike Sharing Demand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NextHikes IT Solutions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Bike Sharing Demand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How time, weather and holidays affect hourly bike rentals: an Excel project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1,000 hourly records  |  58,304 rentals  |  1 Jan to 14 Feb 2011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31641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Presented by: </a:t>
            </a:r>
            <a:r>
              <a:rPr lang="en-US" dirty="0">
                <a:solidFill>
                  <a:schemeClr val="bg2"/>
                </a:solidFill>
              </a:rPr>
              <a:t>RASHMI   PATIL</a:t>
            </a:r>
            <a:r>
              <a:rPr lang="en-US" sz="2800" dirty="0">
                <a:solidFill>
                  <a:schemeClr val="bg2"/>
                </a:solidFill>
              </a:rPr>
              <a:t> </a:t>
            </a:r>
            <a:r>
              <a:rPr lang="en-US" sz="1400" dirty="0">
                <a:solidFill>
                  <a:schemeClr val="bg2"/>
                </a:solidFill>
              </a:rPr>
              <a:t>               </a:t>
            </a:r>
            <a:r>
              <a:rPr lang="en-US" sz="1600">
                <a:solidFill>
                  <a:schemeClr val="bg2"/>
                </a:solidFill>
              </a:rPr>
              <a:t>DATE: </a:t>
            </a:r>
            <a:r>
              <a:rPr lang="en-US" sz="2400">
                <a:solidFill>
                  <a:schemeClr val="bg2"/>
                </a:solidFill>
              </a:rPr>
              <a:t>08 - 10 - 26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7C93F6-1911-535E-0D82-9C1F23E6D267}"/>
              </a:ext>
            </a:extLst>
          </p:cNvPr>
          <p:cNvSpPr txBox="1"/>
          <p:nvPr/>
        </p:nvSpPr>
        <p:spPr>
          <a:xfrm>
            <a:off x="804333" y="1015999"/>
            <a:ext cx="72305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Urban bike-sharing systems rely on accurate demand forecasting to ensure bikes are available when and where riders need them. This project </a:t>
            </a:r>
            <a:r>
              <a:rPr lang="en-IN" sz="1600" dirty="0" err="1">
                <a:solidFill>
                  <a:schemeClr val="bg1"/>
                </a:solidFill>
              </a:rPr>
              <a:t>analyzes</a:t>
            </a:r>
            <a:r>
              <a:rPr lang="en-IN" sz="1600" dirty="0">
                <a:solidFill>
                  <a:schemeClr val="bg1"/>
                </a:solidFill>
              </a:rPr>
              <a:t> 1,000 hourly rental records </a:t>
            </a:r>
            <a:r>
              <a:rPr lang="en-IN" sz="1600" dirty="0" err="1">
                <a:solidFill>
                  <a:schemeClr val="bg1"/>
                </a:solidFill>
              </a:rPr>
              <a:t>totaling</a:t>
            </a:r>
            <a:r>
              <a:rPr lang="en-IN" sz="1600" dirty="0">
                <a:solidFill>
                  <a:schemeClr val="bg1"/>
                </a:solidFill>
              </a:rPr>
              <a:t> 58,304 rentals from January 1 to February 14, 2011. It evaluates how key external factors—such as time of day, weather conditions, and day types—impact hourly rental volume. Using multi-stage data merging and Excel macro automation, the analysis builds interactive dashboards and short-term ETS forecasts. Ultimately, these findings deliver actionable strategies to optimize fleet positioning, maintenance schedules, and commuter service efficiency.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FC02D-4BC8-D5CD-3361-61EABDAA29B0}"/>
              </a:ext>
            </a:extLst>
          </p:cNvPr>
          <p:cNvSpPr/>
          <p:nvPr/>
        </p:nvSpPr>
        <p:spPr>
          <a:xfrm>
            <a:off x="2006600" y="203200"/>
            <a:ext cx="4343400" cy="46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2160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Data: three datasets, merged in two stages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Dataset 1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610 rows: date, hour, weather, temp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13258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+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188720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Dataset 2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610 rows: humidity, wind, riders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3258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=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18872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Merge_1_2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610 rows (stage 1, on "instant")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Merge_1_2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610 rows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788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+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651760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Dataset 3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390 rows (instants 611-1000)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2788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=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65176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Clean_Data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1,000 rows (stage 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Stage 1 joins Dataset 1 and 2 with INDEX/MATCH. Stage 2 adds Dataset 3, which already holds every column. Datasets 2 and 3 arrived as PDFs and were converted to numbers.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Cleaning and checks</a:t>
            </a:r>
            <a:endParaRPr lang="en-US" sz="2600" dirty="0"/>
          </a:p>
        </p:txBody>
      </p:sp>
      <p:sp>
        <p:nvSpPr>
          <p:cNvPr id="3" name="Card: Duplicates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6245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Duplicates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None found in any dataset or after merging, so no rows were removed.</a:t>
            </a:r>
            <a:endParaRPr lang="en-US" sz="1300" dirty="0"/>
          </a:p>
        </p:txBody>
      </p:sp>
      <p:sp>
        <p:nvSpPr>
          <p:cNvPr id="7" name="Card: Missing values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36245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298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Missing values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099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11 blank feels-like temperatures (atemp) were filled by regression on temp and highlighted yellow.</a:t>
            </a:r>
            <a:endParaRPr lang="en-US" sz="1300" dirty="0"/>
          </a:p>
        </p:txBody>
      </p:sp>
      <p:sp>
        <p:nvSpPr>
          <p:cNvPr id="11" name="Card: Data types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4553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081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types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Dataset 3 dates were text (dd-mm-yyyy) and became real dates. PDF values became numbers.</a:t>
            </a:r>
            <a:endParaRPr lang="en-US" sz="1300" dirty="0"/>
          </a:p>
        </p:txBody>
      </p:sp>
      <p:sp>
        <p:nvSpPr>
          <p:cNvPr id="15" name="Card: Checks and new columns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14553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081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Checks and new columns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4930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21 automatic checks all PASS. Added day type, time of day, demand level and anomaly flag.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Key findings</a:t>
            </a:r>
            <a:endParaRPr lang="en-US" sz="2600" dirty="0"/>
          </a:p>
        </p:txBody>
      </p:sp>
      <p:sp>
        <p:nvSpPr>
          <p:cNvPr id="3" name="Stat: 08:00 &amp; 17:00"/>
          <p:cNvSpPr/>
          <p:nvPr/>
        </p:nvSpPr>
        <p:spPr>
          <a:xfrm>
            <a:off x="457200" y="1143000"/>
            <a:ext cx="1965960" cy="2331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08:00 &amp; 17:00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Weekday commute peaks: 189 and 169 rentals per hour. Weekends peak mid-afternoon.</a:t>
            </a:r>
            <a:endParaRPr lang="en-US" sz="1300" dirty="0"/>
          </a:p>
        </p:txBody>
      </p:sp>
      <p:sp>
        <p:nvSpPr>
          <p:cNvPr id="6" name="Stat: -46%"/>
          <p:cNvSpPr/>
          <p:nvPr/>
        </p:nvSpPr>
        <p:spPr>
          <a:xfrm>
            <a:off x="2560320" y="1143000"/>
            <a:ext cx="1965960" cy="2331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-46%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5740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Rain or snow: 33 rentals per hour against 62 in clear weather.</a:t>
            </a:r>
            <a:endParaRPr lang="en-US" sz="1300" dirty="0"/>
          </a:p>
        </p:txBody>
      </p:sp>
      <p:sp>
        <p:nvSpPr>
          <p:cNvPr id="9" name="Stat: 95% vs 83%"/>
          <p:cNvSpPr/>
          <p:nvPr/>
        </p:nvSpPr>
        <p:spPr>
          <a:xfrm>
            <a:off x="4663440" y="1143000"/>
            <a:ext cx="1965960" cy="2331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95% vs 83%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05740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Share of rentals by registered riders on weekdays vs weekends.</a:t>
            </a:r>
            <a:endParaRPr lang="en-US" sz="1300" dirty="0"/>
          </a:p>
        </p:txBody>
      </p:sp>
      <p:sp>
        <p:nvSpPr>
          <p:cNvPr id="12" name="Stat: 26-27 Jan"/>
          <p:cNvSpPr/>
          <p:nvPr/>
        </p:nvSpPr>
        <p:spPr>
          <a:xfrm>
            <a:off x="6766560" y="11430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26-27 Jan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0574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Anomalous low days (506 and 431 rentals against about 1,320 usual).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Hour of day is the strongest single driver (correlation 0.37). Temperature 0.23, humidity -0.25 and wind 0.10 are weak. The daily trend explains only 8% of variation.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Interactive dashboard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57300" lvl="2" indent="-342900">
              <a:spcAft>
                <a:spcPts val="600"/>
              </a:spcAft>
              <a:buSzPct val="100000"/>
              <a:buFontTx/>
              <a:buChar char="•"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B2777A-3325-6605-AFFD-4FF99927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914400"/>
            <a:ext cx="76504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06D373-C0A3-BF52-241D-3BEF88975D64}"/>
              </a:ext>
            </a:extLst>
          </p:cNvPr>
          <p:cNvSpPr/>
          <p:nvPr/>
        </p:nvSpPr>
        <p:spPr>
          <a:xfrm>
            <a:off x="342900" y="541020"/>
            <a:ext cx="8237220" cy="38023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0150" lvl="2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Six dropdown filters: day type, weather, time of day, demand level, start and end date.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1200150" lvl="2" indent="-285750">
              <a:spcAft>
                <a:spcPts val="6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Every KPI card, five charts, the heatmap and the top-5 busiest hours            </a:t>
            </a:r>
          </a:p>
          <a:p>
            <a:pPr lvl="2">
              <a:spcAft>
                <a:spcPts val="600"/>
              </a:spcAft>
              <a:buSzPct val="100000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 update together.</a:t>
            </a:r>
          </a:p>
          <a:p>
            <a:pPr lvl="2">
              <a:spcAft>
                <a:spcPts val="600"/>
              </a:spcAft>
              <a:buSzPct val="100000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Key insight:</a:t>
            </a:r>
          </a:p>
          <a:p>
            <a:pPr marL="1200150" lvl="2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Peak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</a:rPr>
              <a:t>commute:highest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usage at 17:00 rush hr.</a:t>
            </a:r>
          </a:p>
          <a:p>
            <a:pPr marL="1200150" lvl="2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Core users:91.6% are registered subscribers.</a:t>
            </a:r>
          </a:p>
          <a:p>
            <a:pPr marL="1200150" lvl="2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</a:rPr>
              <a:t>Weather:rides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peak in clear weather.</a:t>
            </a:r>
          </a:p>
          <a:p>
            <a:pPr marL="1200150" lvl="2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</a:rPr>
              <a:t>Action:shift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bikers to business hubs .</a:t>
            </a:r>
          </a:p>
          <a:p>
            <a:pPr lvl="2">
              <a:spcAft>
                <a:spcPts val="600"/>
              </a:spcAft>
              <a:buSzPct val="100000"/>
            </a:pP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12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2191F4-3B1D-6629-8A01-6E1D5A16E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254635"/>
            <a:ext cx="7376160" cy="402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32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AD7F64E-9FE0-7A4F-CE58-BDE69BCDB966}"/>
              </a:ext>
            </a:extLst>
          </p:cNvPr>
          <p:cNvSpPr/>
          <p:nvPr/>
        </p:nvSpPr>
        <p:spPr>
          <a:xfrm>
            <a:off x="906780" y="0"/>
            <a:ext cx="6652260" cy="49149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FOUR LINE OPTION OF DIS FLITERED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Morning </a:t>
            </a:r>
            <a:r>
              <a:rPr lang="en-IN" sz="1400" dirty="0" err="1"/>
              <a:t>peak:busiest</a:t>
            </a:r>
            <a:r>
              <a:rPr lang="en-IN" sz="1400" dirty="0"/>
              <a:t> time is 8:00am during office commute hr.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Strong </a:t>
            </a:r>
            <a:r>
              <a:rPr lang="en-IN" sz="1400" dirty="0" err="1"/>
              <a:t>loyalty:subscriber</a:t>
            </a:r>
            <a:r>
              <a:rPr lang="en-IN" sz="1400" dirty="0"/>
              <a:t> usage jumps to 95%clear weekday.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 volume: overall rentals abv average.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Action:increase</a:t>
            </a:r>
            <a:r>
              <a:rPr lang="en-IN" sz="1400" dirty="0"/>
              <a:t> bike availability at residential hub.</a:t>
            </a:r>
          </a:p>
        </p:txBody>
      </p:sp>
    </p:spTree>
    <p:extLst>
      <p:ext uri="{BB962C8B-B14F-4D97-AF65-F5344CB8AC3E}">
        <p14:creationId xmlns:p14="http://schemas.microsoft.com/office/powerpoint/2010/main" val="4206294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PivotTables, slicers and timeline</a:t>
            </a:r>
            <a:endParaRPr lang="en-US" sz="2600" dirty="0"/>
          </a:p>
        </p:txBody>
      </p:sp>
      <p:sp>
        <p:nvSpPr>
          <p:cNvPr id="3" name="Screenshot placeholder Figure 3"/>
          <p:cNvSpPr/>
          <p:nvPr/>
        </p:nvSpPr>
        <p:spPr>
          <a:xfrm>
            <a:off x="457200" y="1097280"/>
            <a:ext cx="5120640" cy="347472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Paste Figure 3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Pivot_dashboard with slicers and timeline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18872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CD5C0-890F-1242-2DC8-619C794F0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" y="1505585"/>
            <a:ext cx="3665855" cy="21323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B913B6-17E8-1629-16FB-B10D6B467D0D}"/>
              </a:ext>
            </a:extLst>
          </p:cNvPr>
          <p:cNvSpPr txBox="1"/>
          <p:nvPr/>
        </p:nvSpPr>
        <p:spPr>
          <a:xfrm>
            <a:off x="563880" y="1709976"/>
            <a:ext cx="74142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3 PivotTables and </a:t>
            </a:r>
            <a:r>
              <a:rPr lang="en-US" sz="1600" dirty="0" err="1">
                <a:solidFill>
                  <a:schemeClr val="bg1"/>
                </a:solidFill>
              </a:rPr>
              <a:t>PivotCharts</a:t>
            </a:r>
            <a:r>
              <a:rPr lang="en-US" sz="1600" dirty="0">
                <a:solidFill>
                  <a:schemeClr val="bg1"/>
                </a:solidFill>
              </a:rPr>
              <a:t>: rentals by hour and day type, by weather, and casual vs registered by time of day.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Slicers: </a:t>
            </a:r>
            <a:r>
              <a:rPr lang="en-US" sz="1600" dirty="0" err="1">
                <a:solidFill>
                  <a:schemeClr val="bg1"/>
                </a:solidFill>
              </a:rPr>
              <a:t>day_type</a:t>
            </a:r>
            <a:r>
              <a:rPr lang="en-US" sz="1600" dirty="0">
                <a:solidFill>
                  <a:schemeClr val="bg1"/>
                </a:solidFill>
              </a:rPr>
              <a:t>, weather, </a:t>
            </a:r>
            <a:r>
              <a:rPr lang="en-US" sz="1600" dirty="0" err="1">
                <a:solidFill>
                  <a:schemeClr val="bg1"/>
                </a:solidFill>
              </a:rPr>
              <a:t>time_of_day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demand_level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Timeline on </a:t>
            </a:r>
            <a:r>
              <a:rPr lang="en-US" sz="1600" dirty="0" err="1">
                <a:solidFill>
                  <a:schemeClr val="bg1"/>
                </a:solidFill>
              </a:rPr>
              <a:t>dteday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All five controls are linked to all three pivots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274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Forecast and anomaly detection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33800"/>
            <a:ext cx="82296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7-day forecast: about 1,520 rentals per day, with a wide 95% range (about 840 to 2,200). Treat it as indicative: trend R-squared is only 0.08.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Anomalies flagged by z-score: 3 hours and 2 days (26-27 Jan, snow).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2A98B4-3623-B910-E172-70DF7D4CE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7879080" cy="27235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6083FD-66C7-283B-1335-EBB9A23AE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762952"/>
            <a:ext cx="6964680" cy="361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25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8E2DA2-4889-9BE8-7722-5FD10D75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" y="830580"/>
            <a:ext cx="5440680" cy="23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13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VBA macros and automation</a:t>
            </a:r>
            <a:endParaRPr lang="en-US" sz="2600" dirty="0"/>
          </a:p>
        </p:txBody>
      </p:sp>
      <p:sp>
        <p:nvSpPr>
          <p:cNvPr id="3" name="Card: BikeSharing_Automation.bas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6245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BikeSharing_Automation.bas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RunFullPipeline runs it all in order: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ImportAndCleanNewData: import and clean a new CSV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RefreshAnalysis: recalculate the workbook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BuildAnomalyReport: list unusual hours and days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RunAIForecast: Excel ETS forecast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ExportDashboardPDF: save the dashboard as PDF</a:t>
            </a:r>
            <a:endParaRPr lang="en-US" sz="1300" dirty="0"/>
          </a:p>
        </p:txBody>
      </p:sp>
      <p:sp>
        <p:nvSpPr>
          <p:cNvPr id="7" name="Card: Result in Excel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36245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298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Result in Excel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09928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Imported into the .xlsm workbook and run in Excel.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Created the Anomaly_Report sheet and the ETS forecast columns on Daily_Trend.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Custom functions: DayType, TimeOfDay, DemandLevel.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Recommendations and limitations</a:t>
            </a:r>
            <a:endParaRPr lang="en-US" sz="2600" dirty="0"/>
          </a:p>
        </p:txBody>
      </p:sp>
      <p:sp>
        <p:nvSpPr>
          <p:cNvPr id="3" name="Card: Recommendations"/>
          <p:cNvSpPr/>
          <p:nvPr/>
        </p:nvSpPr>
        <p:spPr>
          <a:xfrm>
            <a:off x="457200" y="1143000"/>
            <a:ext cx="475488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6245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298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Recommendations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4389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1. Pre-position bikes before the 08:00 and 17:00 weekday peaks.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2. Do maintenance at night (only 3% of rentals).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3. Reduce bikes in service in rain or snow (about 45% fewer rentals).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4. Convert casual weekend riders to members.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5. Repeat the analysis with a full year of data.</a:t>
            </a:r>
            <a:endParaRPr lang="en-US" sz="1300" dirty="0"/>
          </a:p>
        </p:txBody>
      </p:sp>
      <p:sp>
        <p:nvSpPr>
          <p:cNvPr id="7" name="Card: Limitations"/>
          <p:cNvSpPr/>
          <p:nvPr/>
        </p:nvSpPr>
        <p:spPr>
          <a:xfrm>
            <a:off x="5394960" y="1143000"/>
            <a:ext cx="3291840" cy="33832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362456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1298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709928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Winter only (45 days): no seasons.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14 Feb is a partial day.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Correlation is not causation.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Forecast is indicative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EC0E1E-27C7-9A94-8B6C-824F1A2FDB1D}"/>
              </a:ext>
            </a:extLst>
          </p:cNvPr>
          <p:cNvSpPr/>
          <p:nvPr/>
        </p:nvSpPr>
        <p:spPr>
          <a:xfrm>
            <a:off x="2316480" y="1615440"/>
            <a:ext cx="4838700" cy="247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CONCLUSION</a:t>
            </a:r>
          </a:p>
          <a:p>
            <a:pPr algn="ctr"/>
            <a:r>
              <a:rPr lang="en-IN" sz="1400" dirty="0"/>
              <a:t>Bottom </a:t>
            </a:r>
            <a:r>
              <a:rPr lang="en-IN" sz="1400" dirty="0" err="1"/>
              <a:t>line:people</a:t>
            </a:r>
            <a:r>
              <a:rPr lang="en-IN" sz="1400" dirty="0"/>
              <a:t> use this bikes mostly to </a:t>
            </a:r>
            <a:r>
              <a:rPr lang="en-IN" sz="1400" dirty="0" err="1"/>
              <a:t>gt</a:t>
            </a:r>
            <a:r>
              <a:rPr lang="en-IN" sz="1400" dirty="0"/>
              <a:t> to </a:t>
            </a:r>
            <a:r>
              <a:rPr lang="en-IN" sz="1400" dirty="0" err="1"/>
              <a:t>work,so</a:t>
            </a:r>
            <a:endParaRPr lang="en-IN" sz="1400" dirty="0"/>
          </a:p>
          <a:p>
            <a:pPr algn="ctr"/>
            <a:r>
              <a:rPr lang="en-IN" sz="1400" dirty="0"/>
              <a:t>Our top priority z having bikes ready for 8 am &amp; 5pm</a:t>
            </a:r>
          </a:p>
          <a:p>
            <a:pPr algn="ctr"/>
            <a:r>
              <a:rPr lang="en-IN" sz="1400" dirty="0" err="1"/>
              <a:t>Rush.rain</a:t>
            </a:r>
            <a:r>
              <a:rPr lang="en-IN" sz="1400" dirty="0"/>
              <a:t> &amp; snow cut our business almost in </a:t>
            </a:r>
            <a:r>
              <a:rPr lang="en-IN" sz="1400" dirty="0" err="1"/>
              <a:t>half,so</a:t>
            </a:r>
            <a:r>
              <a:rPr lang="en-IN" sz="1400" dirty="0"/>
              <a:t> bad</a:t>
            </a:r>
          </a:p>
          <a:p>
            <a:pPr algn="ctr"/>
            <a:r>
              <a:rPr lang="en-IN" sz="1400" dirty="0"/>
              <a:t>Weather days r when v should scale back operations.</a:t>
            </a:r>
          </a:p>
        </p:txBody>
      </p:sp>
    </p:spTree>
    <p:extLst>
      <p:ext uri="{BB962C8B-B14F-4D97-AF65-F5344CB8AC3E}">
        <p14:creationId xmlns:p14="http://schemas.microsoft.com/office/powerpoint/2010/main" val="778866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3E8733C-EEFF-9FA9-C8CB-980385618DC2}"/>
              </a:ext>
            </a:extLst>
          </p:cNvPr>
          <p:cNvSpPr/>
          <p:nvPr/>
        </p:nvSpPr>
        <p:spPr>
          <a:xfrm>
            <a:off x="1912620" y="1196340"/>
            <a:ext cx="3985260" cy="2499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THANK YOU</a:t>
            </a: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9521168-3004-AF75-6B4D-E655F351CD36}"/>
              </a:ext>
            </a:extLst>
          </p:cNvPr>
          <p:cNvSpPr/>
          <p:nvPr/>
        </p:nvSpPr>
        <p:spPr>
          <a:xfrm>
            <a:off x="3383280" y="3131820"/>
            <a:ext cx="1188720" cy="11049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6"/>
                </a:solidFill>
              </a:ln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913204"/>
      </p:ext>
    </p:extLst>
  </p:cSld>
  <p:clrMapOvr>
    <a:masterClrMapping/>
  </p:clrMapOvr>
</p:sld>
</file>

<file path=ppt/theme/theme1.xml><?xml version="1.0" encoding="utf-8"?>
<a:theme xmlns:a="http://schemas.openxmlformats.org/drawingml/2006/main" name="BikeShare">
  <a:themeElements>
    <a:clrScheme name="BikeShare">
      <a:dk1>
        <a:srgbClr val="222B38"/>
      </a:dk1>
      <a:lt1>
        <a:srgbClr val="FFFFFF"/>
      </a:lt1>
      <a:dk2>
        <a:srgbClr val="1F3864"/>
      </a:dk2>
      <a:lt2>
        <a:srgbClr val="EAF1FB"/>
      </a:lt2>
      <a:accent1>
        <a:srgbClr val="1F3864"/>
      </a:accent1>
      <a:accent2>
        <a:srgbClr val="ED7D31"/>
      </a:accent2>
      <a:accent3>
        <a:srgbClr val="2F75B5"/>
      </a:accent3>
      <a:accent4>
        <a:srgbClr val="548235"/>
      </a:accent4>
      <a:accent5>
        <a:srgbClr val="7F7F7F"/>
      </a:accent5>
      <a:accent6>
        <a:srgbClr val="C00000"/>
      </a:accent6>
      <a:hlink>
        <a:srgbClr val="0563C1"/>
      </a:hlink>
      <a:folHlink>
        <a:srgbClr val="7F7F7F"/>
      </a:folHlink>
    </a:clrScheme>
    <a:fontScheme name="BikeSha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944</Words>
  <Application>Microsoft Office PowerPoint</Application>
  <PresentationFormat>On-screen Show (16:9)</PresentationFormat>
  <Paragraphs>115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Wingdings</vt:lpstr>
      <vt:lpstr>BikeShare</vt:lpstr>
      <vt:lpstr>PowerPoint Presentation</vt:lpstr>
      <vt:lpstr>PowerPoint Presentation</vt:lpstr>
      <vt:lpstr>Data: three datasets, merged in two stages</vt:lpstr>
      <vt:lpstr>Cleaning and checks</vt:lpstr>
      <vt:lpstr>Key findings</vt:lpstr>
      <vt:lpstr>Interactive dashboard</vt:lpstr>
      <vt:lpstr>PowerPoint Presentation</vt:lpstr>
      <vt:lpstr>PowerPoint Presentation</vt:lpstr>
      <vt:lpstr>PowerPoint Presentation</vt:lpstr>
      <vt:lpstr>PivotTables, slicers and timeline</vt:lpstr>
      <vt:lpstr>PowerPoint Presentation</vt:lpstr>
      <vt:lpstr>Forecast and anomaly detection</vt:lpstr>
      <vt:lpstr>PowerPoint Presentation</vt:lpstr>
      <vt:lpstr>PowerPoint Presentation</vt:lpstr>
      <vt:lpstr>VBA macros and automation</vt:lpstr>
      <vt:lpstr>Recommendations and limitations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</dc:title>
  <dc:subject>PptxGenJS Presentation</dc:subject>
  <dc:creator>PptxGenJS</dc:creator>
  <cp:lastModifiedBy>risha patil</cp:lastModifiedBy>
  <cp:revision>8</cp:revision>
  <dcterms:created xsi:type="dcterms:W3CDTF">2026-10-05T06:27:27Z</dcterms:created>
  <dcterms:modified xsi:type="dcterms:W3CDTF">2026-10-08T09:22:21Z</dcterms:modified>
</cp:coreProperties>
</file>